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243E5F"/>
          </a:solidFill>
          <a:ln w="12700">
            <a:solidFill>
              <a:srgbClr val="243E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1371600" cy="73152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🏗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65760" y="2395728"/>
            <a:ext cx="5029200" cy="4114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871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Inteligente de Obras e Contratos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canteiro de obras ao ERP — tudo integrado em uma plataforma.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MEDIÇÕES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CANTEIRO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SUPRIMENTOS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952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UAU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CONSTRUTIVO?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gestão completa de obras e contratos de engenharia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1883664"/>
            <a:ext cx="109728" cy="10972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5623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medições com fluxo de aprovação configurável por alçada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30552"/>
            <a:ext cx="109728" cy="10972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031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Gantt com importação do MS Project e metodologia LBM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09728" cy="10972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5000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de material direto do canteiro pelo celular do encarregado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24328"/>
            <a:ext cx="109728" cy="10972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9689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compras (RDC) com rastreabilidade completa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871216"/>
            <a:ext cx="109728" cy="10972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4378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ERP UAU para medições, compras e pagamentos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18104"/>
            <a:ext cx="109728" cy="10972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906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eletrônica (D4Sign/ClickSign) de medições e contratos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64992"/>
            <a:ext cx="109728" cy="10972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3756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automática de contratos em PDF via Inteligência Artificial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611880"/>
            <a:ext cx="109728" cy="10972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58444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por WhatsApp e e-mail em tempo real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0" y="1170432"/>
            <a:ext cx="1463040" cy="1261872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52160" y="12618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852160" y="18562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24928" y="1170432"/>
            <a:ext cx="1463040" cy="126187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24928" y="12618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424928" y="18562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obra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52160" y="2587752"/>
            <a:ext cx="1463040" cy="1261872"/>
          </a:xfrm>
          <a:prstGeom prst="rect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52160" y="267919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5852160" y="32735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24928" y="2587752"/>
            <a:ext cx="1463040" cy="1261872"/>
          </a:xfrm>
          <a:prstGeom prst="rect">
            <a:avLst/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24928" y="267919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UAU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424928" y="32735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  —  Do canteiro ao ERP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DA PLATAFORMA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43000"/>
            <a:ext cx="2743200" cy="38404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95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Medições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158191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Elaboração, revisão e aprovação de medições de contratos com alçadas configuráveis e assinatura eletrônica.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11430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143000"/>
            <a:ext cx="2743200" cy="384048"/>
          </a:xfrm>
          <a:prstGeom prst="rect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1795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Cronograma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82696" y="158191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com importação MS Project (.xml/.mpp), metodologia LBM e vínculo direto com contratos e WBS.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53328" y="11430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53328" y="1143000"/>
            <a:ext cx="2743200" cy="384048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1795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Acompanhamento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63056" y="158191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Coloridão: heatmap visual de status de atividades por obra, filtros de urgência e rastreabilidade contratual.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" y="295351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953512"/>
            <a:ext cx="2743200" cy="38404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900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Canteiro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" y="3392424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para encarregados solicitarem materiais em campo com foto, WBS, unidade e quantidade.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295351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953512"/>
            <a:ext cx="2743200" cy="384048"/>
          </a:xfrm>
          <a:prstGeom prst="rect">
            <a:avLst/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9900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Suprimentos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82696" y="3392424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RDC — Requisição de Compra com validação, atribuição, rastreamento de status e integração UAU.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53328" y="295351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53328" y="2953512"/>
            <a:ext cx="27432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9900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Financeiro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63056" y="3392424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 de NF, controle de pagamentos e futura geração de Processo de Pagamento no UAU.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  —  Do canteiro ao ERP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MEDIÇÕES — FLUXO DE APROVAÇÃO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188720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88720"/>
            <a:ext cx="1572768" cy="384048"/>
          </a:xfrm>
          <a:prstGeom prst="rect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" y="16276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496312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Medidor cria a medição, lança itens da planilha orçamentária do contrato.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65376" y="2304288"/>
            <a:ext cx="146304" cy="7315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188720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188720"/>
            <a:ext cx="1572768" cy="384048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16276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084832" y="21488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496312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 valida os itens, quantidades e valores. Pode reprovar e devolver.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84448" y="2304288"/>
            <a:ext cx="146304" cy="7315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1188720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30752" y="1188720"/>
            <a:ext cx="1572768" cy="38404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30752" y="16276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803904" y="21488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22192" y="2496312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Alçadas configuráveis por valor. Hierarquia de aprovadores por empresa.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0" y="2304288"/>
            <a:ext cx="146304" cy="7315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9824" y="1188720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9824" y="1188720"/>
            <a:ext cx="1572768" cy="38404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49824" y="16276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🖊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522976" y="21488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41264" y="2496312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D4Sign ou ClickSign. Envio automático para fornecedor por e-mail.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22592" y="2304288"/>
            <a:ext cx="146304" cy="7315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68896" y="1188720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68896" y="1188720"/>
            <a:ext cx="1572768" cy="384048"/>
          </a:xfrm>
          <a:prstGeom prst="rect">
            <a:avLst/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68896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68896" y="16276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242048" y="21488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60336" y="2496312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conferida. Geração do Processo de Pagamento no ERP UAU.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2608" y="3749040"/>
            <a:ext cx="855878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MEDIÇÃO SUPORTADOS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087368"/>
            <a:ext cx="256032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1056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—  Física + financeira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91840" y="4087368"/>
            <a:ext cx="256032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64992" y="41056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Adiantamento  —  Financeiro antecipado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26480" y="4087368"/>
            <a:ext cx="256032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41056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Avanço Físico  —  Confirmação física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  —  Do canteiro ao ERP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&amp; ACOMPANHAMENTO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409651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43000"/>
            <a:ext cx="4096512" cy="384048"/>
          </a:xfrm>
          <a:prstGeom prst="rect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6128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GANTT (MS PROJECT)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09728" cy="109728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3677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de .xml e .mpp do MS Project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12264"/>
            <a:ext cx="109728" cy="109728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848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tarefas (WBS) com indentação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09728" cy="109728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328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Percentuais planejado vs. executado por atividade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109728" cy="109728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809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de atividades com contratos e fornecedores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56432"/>
            <a:ext cx="109728" cy="109728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290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 alertas por data de início e gatilho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04488"/>
            <a:ext cx="109728" cy="109728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770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temporal com progresso planejado vs. real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40965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43000"/>
            <a:ext cx="4096512" cy="384048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16128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LBM — LINE OF BALANCE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19472" y="1664208"/>
            <a:ext cx="109728" cy="109728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16367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por localização (andares, blocos)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9472" y="2066544"/>
            <a:ext cx="109728" cy="109728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039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obras repetitivas (residencial, industrial)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19472" y="2468880"/>
            <a:ext cx="109728" cy="109728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441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de ritmo e fluxo de equipes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971800"/>
            <a:ext cx="40965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71800"/>
            <a:ext cx="4096512" cy="38404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99008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COLORIDÃO (HEATMAP)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19472" y="3493008"/>
            <a:ext cx="109728" cy="109728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4655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visual: todas as obras × atividades em uma tela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19472" y="3831336"/>
            <a:ext cx="109728" cy="109728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8039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por urgência: atrasado, em risco, no prazo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19472" y="4169664"/>
            <a:ext cx="109728" cy="109728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4142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rápidos e agrupamento por status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19472" y="4507992"/>
            <a:ext cx="109728" cy="109728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4480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Vinculação direta com contratos e fornecedores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  —  Do canteiro ao ERP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CANTEIRO &amp; SUPRIMENTOS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70432"/>
            <a:ext cx="2011680" cy="38404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70432"/>
            <a:ext cx="201168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Encarregado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5603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material no celular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WBS, quantidade, unidade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foto/anexo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04288" y="2377440"/>
            <a:ext cx="164592" cy="7315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170432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170432"/>
            <a:ext cx="2011680" cy="384048"/>
          </a:xfrm>
          <a:prstGeom prst="rect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170432"/>
            <a:ext cx="201168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68880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560320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Suprimentos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25603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a requisição,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por tipo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RDC de compra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2377440"/>
            <a:ext cx="164592" cy="7315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5152" y="1170432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1170432"/>
            <a:ext cx="2011680" cy="384048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170432"/>
            <a:ext cx="201168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45152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🏢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736592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36592" y="25603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pedido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UAU ERP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a NF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56832" y="2377440"/>
            <a:ext cx="164592" cy="7315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21424" y="1170432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21424" y="1170432"/>
            <a:ext cx="2011680" cy="384048"/>
          </a:xfrm>
          <a:prstGeom prst="rect">
            <a:avLst/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21424" y="1170432"/>
            <a:ext cx="201168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21424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912864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12864" y="25603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a NF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gera processo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pagamento no UAU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" y="4251960"/>
            <a:ext cx="85587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427939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Multi-item por RM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130552" y="427939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Agrupamento por WBS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9624" y="427939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Anexos e fotos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68696" y="427939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unidades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87768" y="427939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Notificação ao suprimentos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  —  Do canteiro ao ERP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ERP UAU — 3 FLUXOS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270662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43000"/>
            <a:ext cx="2706624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43000"/>
            <a:ext cx="2706624" cy="457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92608" y="164592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84048" y="213969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Medição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2532888"/>
            <a:ext cx="2523744" cy="347472"/>
          </a:xfrm>
          <a:prstGeom prst="rect">
            <a:avLst/>
          </a:prstGeom>
          <a:solidFill>
            <a:srgbClr val="E8F4F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55117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Após medição aprovada pelo gestor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971800"/>
            <a:ext cx="164592" cy="164592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4436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ManterMedicao → cria medição no UAU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3355848"/>
            <a:ext cx="164592" cy="164592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2841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uau_medicao_id salvo no Construtivo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" y="3739896"/>
            <a:ext cx="164592" cy="164592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1246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entre medição Construtivo ↔ UAU estabelecido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4251960"/>
            <a:ext cx="2523744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27024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Responsável: Gestor de Contratos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82112" y="1143000"/>
            <a:ext cx="270662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1143000"/>
            <a:ext cx="2706624" cy="457200"/>
          </a:xfrm>
          <a:prstGeom prst="rect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1143000"/>
            <a:ext cx="2706624" cy="457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182112" y="164592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273552" y="213969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Req. de Compra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73552" y="2532888"/>
            <a:ext cx="2523744" cy="347472"/>
          </a:xfrm>
          <a:prstGeom prst="rect">
            <a:avLst/>
          </a:prstGeom>
          <a:solidFill>
            <a:srgbClr val="E8F4FA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55117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Após RDC validada pelo Suprimentos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19272" y="2971800"/>
            <a:ext cx="164592" cy="164592"/>
          </a:xfrm>
          <a:prstGeom prst="rect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9584" y="294436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GravarPedidoDeCompraDoTipoMaterial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19272" y="3355848"/>
            <a:ext cx="164592" cy="164592"/>
          </a:xfrm>
          <a:prstGeom prst="rect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9584" y="332841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itens com código de acompanhamento UAU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19272" y="3739896"/>
            <a:ext cx="164592" cy="164592"/>
          </a:xfrm>
          <a:prstGeom prst="rect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9584" y="371246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compra gerado no ERP com rastreabilidade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73552" y="4251960"/>
            <a:ext cx="2523744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427024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Responsável: Suprimentos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71616" y="1143000"/>
            <a:ext cx="270662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71616" y="1143000"/>
            <a:ext cx="2706624" cy="457200"/>
          </a:xfrm>
          <a:prstGeom prst="rect">
            <a:avLst/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71616" y="1143000"/>
            <a:ext cx="2706624" cy="457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071616" y="164592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163056" y="213969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Pagamento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63056" y="2532888"/>
            <a:ext cx="2523744" cy="347472"/>
          </a:xfrm>
          <a:prstGeom prst="rect">
            <a:avLst/>
          </a:prstGeom>
          <a:solidFill>
            <a:srgbClr val="E8F4FA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255117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9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Após NF conferida pelo Financeiro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08776" y="2971800"/>
            <a:ext cx="164592" cy="164592"/>
          </a:xfrm>
          <a:prstGeom prst="rect">
            <a:avLst/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294436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GerarProcessoMedicao → cria processo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08776" y="3355848"/>
            <a:ext cx="164592" cy="164592"/>
          </a:xfrm>
          <a:prstGeom prst="rect">
            <a:avLst/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332841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ConfirmarProcessoParaEmissao → gera financeiro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08776" y="3739896"/>
            <a:ext cx="164592" cy="164592"/>
          </a:xfrm>
          <a:prstGeom prst="rect">
            <a:avLst/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9088" y="371246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UAU emite boleto/pagamento automaticamente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63056" y="4251960"/>
            <a:ext cx="2523744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27024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Responsável: Financeiro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  —  Do canteiro ao ERP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&amp; TECNOLOGIA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344168"/>
            <a:ext cx="548640" cy="548640"/>
          </a:xfrm>
          <a:prstGeom prst="ellipse">
            <a:avLst/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UAU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618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9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/ Globaltec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" y="196596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Medições, Pedidos de Compra e Processos de Pagamento via API REST com api_key.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14300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344168"/>
            <a:ext cx="548640" cy="54864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50208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D4Sign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50208" y="1618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Eletrônica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82696" y="196596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automático para fornecedor após aprovação. Webhook atualiza status no Construtivo.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53328" y="114300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0488" y="1344168"/>
            <a:ext cx="548640" cy="548640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30568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30568" y="1618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63056" y="196596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automática de contratos PDF: itens, valores, fornecedor, datas e WBS.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2608" y="292608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" y="3127248"/>
            <a:ext cx="548640" cy="5486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69848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69848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" y="37490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em tempo real para aprovadores, suprimentos e financeiro.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72968" y="292608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10128" y="3127248"/>
            <a:ext cx="548640" cy="548640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950208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(SMTP)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950208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Configurável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82696" y="37490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de status, envio de medições e lembretes de aprovação pendente.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53328" y="292608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0488" y="3127248"/>
            <a:ext cx="548640" cy="548640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30568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30568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MinIO / Local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63056" y="37490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de contratos, medições, NFs e anexos de requisição de material.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  —  Do canteiro ao ERP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&amp; INTELIGÊNCIA ARTIFICIAL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409651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43000"/>
            <a:ext cx="4096512" cy="38404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6128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CADASTRO DE CONTRATOS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09728" cy="109728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3677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orçamentária por item com qtd., unid. e valor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109728" cy="109728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122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UAU: empresa, contrato, item e acompanhamento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109728" cy="109728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877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automático com atividades do cronograma (WBS)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90672"/>
            <a:ext cx="109728" cy="109728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632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saldo financeiro e % executado em tempo real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109728" cy="109728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387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medições: Normal, Adiantamento e Avanço Físico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109728" cy="109728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1421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 contratos armazenados em nuvem (S3/MinIO)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409651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43000"/>
            <a:ext cx="4096512" cy="384048"/>
          </a:xfrm>
          <a:prstGeom prst="rect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16128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EXTRAÇÃO POR IA (GEMINI)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919472" y="1682496"/>
            <a:ext cx="256032" cy="256032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48656" y="1664208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 contrato PDF ou DOCX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19472" y="2148840"/>
            <a:ext cx="256032" cy="256032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48656" y="213055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lê e interpreta o documento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19472" y="2615184"/>
            <a:ext cx="256032" cy="256032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48656" y="2596896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Extrai: itens, qtd., valores, datas, fornecedor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19472" y="3081528"/>
            <a:ext cx="256032" cy="256032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48656" y="3063240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códigos WBS e vincula ao cronograma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19472" y="3547872"/>
            <a:ext cx="256032" cy="256032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48656" y="3529584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Pré-preenche todo o formulário automaticamente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19472" y="4014216"/>
            <a:ext cx="256032" cy="256032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48656" y="3995928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revisa e salva com um clique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64608" y="4023360"/>
            <a:ext cx="3858768" cy="548640"/>
          </a:xfrm>
          <a:prstGeom prst="rect">
            <a:avLst/>
          </a:prstGeom>
          <a:solidFill>
            <a:srgbClr val="EBF7F9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405993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Reduz em até 90% o tempo de cadastro de contratos complexos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  —  Do canteiro ao ERP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PERMISSÕES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344168"/>
            <a:ext cx="548640" cy="548640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1344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/ Active Directory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2336" y="196596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SSO integrada ao AD corporativo. Suporte a fallback para usuário local. Grupos AD mapeados para perfis do sistema.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14300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344168"/>
            <a:ext cx="548640" cy="548640"/>
          </a:xfrm>
          <a:prstGeom prst="ellipse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0208" y="1344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e Permissões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82696" y="196596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Administrador, Gestor, Medidor, Revisor, Financeiro, Suprimentos e Encarregado. Cada perfil acessa apenas seus módulos.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114300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0488" y="1344168"/>
            <a:ext cx="548640" cy="548640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30568" y="1344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por Obra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63056" y="196596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vê apenas as obras que tem acesso. Controla visibilidade de contratos, medições e cronogramas por projeto.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292608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127248"/>
            <a:ext cx="548640" cy="54864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69848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Alçadas de Aprovação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2336" y="37490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configurável por faixa de valor. Aprovadores automáticos por empresa e obra. Escalonamento por ausência.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292608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127248"/>
            <a:ext cx="548640" cy="548640"/>
          </a:xfrm>
          <a:prstGeom prst="ellipse">
            <a:avLst/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50208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Auditoria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82696" y="37490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imutável de todas as ações: criar, editar, excluir, aprovar, integrar. Quem fez, o quê e quando.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53328" y="292608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0488" y="3127248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30568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do Fornecedor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63056" y="37490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externo seguro para o fornecedor visualizar e assinar medições via link autenticado, sem login no sistema.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  —  Do canteiro ao ERP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TÉCNICA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855878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70432"/>
            <a:ext cx="1371600" cy="621792"/>
          </a:xfrm>
          <a:prstGeom prst="rect">
            <a:avLst/>
          </a:prstGeom>
          <a:solidFill>
            <a:srgbClr val="0B7FA6"/>
          </a:solidFill>
          <a:ln w="12700">
            <a:solidFill>
              <a:srgbClr val="0B7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17043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FRONTEND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92224" y="1207008"/>
            <a:ext cx="687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JavaScript Vanilla — SPA sem build, servida por Nginx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" y="1883664"/>
            <a:ext cx="855878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883664"/>
            <a:ext cx="1371600" cy="621792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883664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API REST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92224" y="1920240"/>
            <a:ext cx="687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— Autenticação JWT + LDAP — Multer para uploads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2608" y="2596896"/>
            <a:ext cx="855878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" y="2596896"/>
            <a:ext cx="1371600" cy="621792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259689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BANCO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92224" y="2633472"/>
            <a:ext cx="687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Schema versionado por migration SQL — JSONB para configs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2608" y="3310128"/>
            <a:ext cx="855878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3310128"/>
            <a:ext cx="1371600" cy="6217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3310128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STORAGE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92224" y="3346704"/>
            <a:ext cx="687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/ MinIO / Local — Documentos, NFs, anexos e contratos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92608" y="4023360"/>
            <a:ext cx="855878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4023360"/>
            <a:ext cx="1371600" cy="621792"/>
          </a:xfrm>
          <a:prstGeom prst="rect">
            <a:avLst/>
          </a:prstGeom>
          <a:solidFill>
            <a:srgbClr val="1E9E62"/>
          </a:solidFill>
          <a:ln w="12700">
            <a:solidFill>
              <a:srgbClr val="1E9E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402336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CONTAINER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92224" y="4059936"/>
            <a:ext cx="687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API + DB + Nginx + Adminer — Deploy em qualquer nuvem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" y="1801368"/>
            <a:ext cx="347472" cy="64008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2514600"/>
            <a:ext cx="347472" cy="64008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3227832"/>
            <a:ext cx="347472" cy="64008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3941064"/>
            <a:ext cx="347472" cy="64008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  —  Do canteiro ao ERP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114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TOTAL.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3474720" cy="36576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933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Medições digitais com aprovação rastreável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Cronograma conectado a contratos e obras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6700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Canteiro digital — sem papel, sem retrabalho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30083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Compras integradas ao ERP UAU diretamente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33467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IA que lê e cadastra contratos automaticamente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36850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Assinatura eletrônica juridicamente válida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0" y="411480"/>
            <a:ext cx="3200400" cy="3611880"/>
          </a:xfrm>
          <a:prstGeom prst="rect">
            <a:avLst/>
          </a:prstGeom>
          <a:solidFill>
            <a:srgbClr val="243E5F"/>
          </a:solidFill>
          <a:ln w="12700">
            <a:solidFill>
              <a:srgbClr val="3A5A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548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33872" y="1051560"/>
            <a:ext cx="256032" cy="25603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051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44768" y="10332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migration UAU no banco de produção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33872" y="1508760"/>
            <a:ext cx="256032" cy="25603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44768" y="14904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API Key e URL do UAU em Configurações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33872" y="1965960"/>
            <a:ext cx="256032" cy="25603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44768" y="19476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obras e contratos aos códigos UAU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33872" y="2423160"/>
            <a:ext cx="256032" cy="25603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44768" y="24048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botão "Integrar Medição no UAU"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33872" y="2880360"/>
            <a:ext cx="256032" cy="25603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44768" y="28620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"Integrar Req. de Compra no UAU"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33872" y="3337560"/>
            <a:ext cx="256032" cy="256032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44768" y="33192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"Gerar Pagamento no UAU" (pós-NF)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2519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CONSTRUTIVO AI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65760" y="4526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canteiro ao ERP — tudo conectado, rastreável e integrado.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Construtivo AI — Gestão Inteligente de Obras</dc:title>
  <dc:subject>PptxGenJS Presentation</dc:subject>
  <dc:creator>Construtivo AI</dc:creator>
  <cp:lastModifiedBy>Construtivo AI</cp:lastModifiedBy>
  <cp:revision>1</cp:revision>
  <dcterms:created xsi:type="dcterms:W3CDTF">2026-05-15T12:27:08Z</dcterms:created>
  <dcterms:modified xsi:type="dcterms:W3CDTF">2026-05-15T12:27:08Z</dcterms:modified>
</cp:coreProperties>
</file>